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9077"/>
            <a:ext cx="7772400" cy="1470025"/>
          </a:xfrm>
        </p:spPr>
        <p:txBody>
          <a:bodyPr/>
          <a:lstStyle/>
          <a:p>
            <a:r>
              <a:rPr b="1" u="sng" dirty="0"/>
              <a:t>Project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739246"/>
            <a:ext cx="7527303" cy="4444738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</a:rPr>
              <a:t>Mobile Phone Price Prediction</a:t>
            </a:r>
          </a:p>
          <a:p>
            <a:r>
              <a:rPr lang="en-US" dirty="0">
                <a:solidFill>
                  <a:srgbClr val="7030A0"/>
                </a:solidFill>
              </a:rPr>
              <a:t>Feature Extraction &amp; Machine Learning Project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 BY POOJA KUMARI</a:t>
            </a:r>
            <a:endParaRPr b="1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# 📱 </a:t>
            </a:r>
            <a:r>
              <a:rPr b="1" u="sng" dirty="0"/>
              <a:t>Feature Extraction and Price Predict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06252"/>
            <a:ext cx="8229600" cy="4877110"/>
          </a:xfrm>
        </p:spPr>
        <p:txBody>
          <a:bodyPr>
            <a:normAutofit fontScale="85000" lnSpcReduction="20000"/>
          </a:bodyPr>
          <a:lstStyle/>
          <a:p>
            <a:r>
              <a:rPr b="1" dirty="0">
                <a:solidFill>
                  <a:srgbClr val="7030A0"/>
                </a:solidFill>
              </a:rPr>
              <a:t>Subject</a:t>
            </a:r>
            <a:r>
              <a:rPr lang="en-US" dirty="0">
                <a:solidFill>
                  <a:srgbClr val="7030A0"/>
                </a:solidFill>
              </a:rPr>
              <a:t>:</a:t>
            </a:r>
            <a:r>
              <a:rPr dirty="0">
                <a:solidFill>
                  <a:srgbClr val="7030A0"/>
                </a:solidFill>
              </a:rPr>
              <a:t> Machine Learning &amp; Data Science</a:t>
            </a:r>
            <a:r>
              <a:rPr lang="en-US" dirty="0">
                <a:solidFill>
                  <a:srgbClr val="7030A0"/>
                </a:solidFill>
              </a:rPr>
              <a:t> </a:t>
            </a:r>
            <a:endParaRPr dirty="0">
              <a:solidFill>
                <a:srgbClr val="7030A0"/>
              </a:solidFill>
            </a:endParaRPr>
          </a:p>
          <a:p>
            <a:r>
              <a:rPr b="1" dirty="0">
                <a:solidFill>
                  <a:srgbClr val="7030A0"/>
                </a:solidFill>
              </a:rPr>
              <a:t>Obje</a:t>
            </a:r>
            <a:r>
              <a:rPr lang="en-US" b="1" dirty="0">
                <a:solidFill>
                  <a:srgbClr val="7030A0"/>
                </a:solidFill>
              </a:rPr>
              <a:t>ctive</a:t>
            </a:r>
            <a:r>
              <a:rPr lang="en-US" dirty="0">
                <a:solidFill>
                  <a:srgbClr val="7030A0"/>
                </a:solidFill>
              </a:rPr>
              <a:t>:</a:t>
            </a:r>
            <a:r>
              <a:rPr dirty="0">
                <a:solidFill>
                  <a:srgbClr val="7030A0"/>
                </a:solidFill>
              </a:rPr>
              <a:t> Mobile phone features analyze </a:t>
            </a:r>
          </a:p>
          <a:p>
            <a:r>
              <a:rPr lang="en-US" b="1" dirty="0">
                <a:solidFill>
                  <a:srgbClr val="7030A0"/>
                </a:solidFill>
              </a:rPr>
              <a:t>D</a:t>
            </a:r>
            <a:r>
              <a:rPr b="1" dirty="0">
                <a:solidFill>
                  <a:srgbClr val="7030A0"/>
                </a:solidFill>
              </a:rPr>
              <a:t>ataset</a:t>
            </a:r>
            <a:r>
              <a:rPr lang="en-US" dirty="0">
                <a:solidFill>
                  <a:srgbClr val="7030A0"/>
                </a:solidFill>
              </a:rPr>
              <a:t>:</a:t>
            </a:r>
            <a:r>
              <a:rPr dirty="0">
                <a:solidFill>
                  <a:srgbClr val="7030A0"/>
                </a:solidFill>
              </a:rPr>
              <a:t> 541 mobile phones — 11 features + 1 target (Price) </a:t>
            </a:r>
          </a:p>
          <a:p>
            <a:endParaRPr lang="en-US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    </a:t>
            </a:r>
            <a:r>
              <a:rPr b="1" u="sng" dirty="0">
                <a:solidFill>
                  <a:srgbClr val="7030A0"/>
                </a:solidFill>
              </a:rPr>
              <a:t>Technologies Used</a:t>
            </a:r>
            <a:endParaRPr u="sng" dirty="0">
              <a:solidFill>
                <a:srgbClr val="7030A0"/>
              </a:solidFill>
            </a:endParaRPr>
          </a:p>
          <a:p>
            <a:r>
              <a:rPr dirty="0">
                <a:solidFill>
                  <a:srgbClr val="7030A0"/>
                </a:solidFill>
              </a:rPr>
              <a:t>Library | Purpose </a:t>
            </a:r>
            <a:endParaRPr lang="en-US" dirty="0">
              <a:solidFill>
                <a:srgbClr val="7030A0"/>
              </a:solidFill>
            </a:endParaRPr>
          </a:p>
          <a:p>
            <a:r>
              <a:rPr lang="en-US" dirty="0">
                <a:solidFill>
                  <a:srgbClr val="7030A0"/>
                </a:solidFill>
              </a:rPr>
              <a:t>| `pandas` | Data loading, cleaning, manipulation |</a:t>
            </a:r>
          </a:p>
          <a:p>
            <a:r>
              <a:rPr dirty="0">
                <a:solidFill>
                  <a:srgbClr val="7030A0"/>
                </a:solidFill>
              </a:rPr>
              <a:t>| `</a:t>
            </a:r>
            <a:r>
              <a:rPr dirty="0" err="1">
                <a:solidFill>
                  <a:srgbClr val="7030A0"/>
                </a:solidFill>
              </a:rPr>
              <a:t>numpy</a:t>
            </a:r>
            <a:r>
              <a:rPr dirty="0">
                <a:solidFill>
                  <a:srgbClr val="7030A0"/>
                </a:solidFill>
              </a:rPr>
              <a:t>` | Mathematical operations |</a:t>
            </a:r>
          </a:p>
          <a:p>
            <a:r>
              <a:rPr dirty="0">
                <a:solidFill>
                  <a:srgbClr val="7030A0"/>
                </a:solidFill>
              </a:rPr>
              <a:t>| `matplotlib` &amp; `seaborn` | Data visualization |</a:t>
            </a:r>
          </a:p>
          <a:p>
            <a:r>
              <a:rPr dirty="0">
                <a:solidFill>
                  <a:srgbClr val="7030A0"/>
                </a:solidFill>
              </a:rPr>
              <a:t>| `scikit-learn` | Machine learning models &amp;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39383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lang="en-US" sz="4000" b="1" u="sng" dirty="0"/>
              <a:t>WORKFLOW </a:t>
            </a:r>
            <a:endParaRPr sz="4000" b="1" u="sng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D1FBDE-649D-E278-5B47-5893397ADDBA}"/>
              </a:ext>
            </a:extLst>
          </p:cNvPr>
          <p:cNvSpPr txBox="1">
            <a:spLocks/>
          </p:cNvSpPr>
          <p:nvPr/>
        </p:nvSpPr>
        <p:spPr>
          <a:xfrm>
            <a:off x="358218" y="1477496"/>
            <a:ext cx="7378046" cy="11393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200"/>
            </a:pPr>
            <a:endParaRPr lang="en-US" sz="4000" b="1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EECBB8-2C35-E4A0-1730-73689D90AAE7}"/>
              </a:ext>
            </a:extLst>
          </p:cNvPr>
          <p:cNvSpPr txBox="1"/>
          <p:nvPr/>
        </p:nvSpPr>
        <p:spPr>
          <a:xfrm>
            <a:off x="579747" y="1477496"/>
            <a:ext cx="627353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  <a:defRPr sz="2200"/>
            </a:pPr>
            <a:r>
              <a:rPr lang="en-US" sz="3600" dirty="0">
                <a:solidFill>
                  <a:srgbClr val="7030A0"/>
                </a:solidFill>
              </a:rPr>
              <a:t>EDA</a:t>
            </a:r>
          </a:p>
          <a:p>
            <a:pPr marL="342900" indent="-342900">
              <a:buFont typeface="Wingdings" panose="05000000000000000000" pitchFamily="2" charset="2"/>
              <a:buChar char="Ø"/>
              <a:defRPr sz="2200"/>
            </a:pPr>
            <a:r>
              <a:rPr lang="en-US" sz="3600" dirty="0">
                <a:solidFill>
                  <a:srgbClr val="7030A0"/>
                </a:solidFill>
              </a:rPr>
              <a:t>Data Cleaning</a:t>
            </a:r>
          </a:p>
          <a:p>
            <a:pPr marL="342900" indent="-342900">
              <a:buFont typeface="Wingdings" panose="05000000000000000000" pitchFamily="2" charset="2"/>
              <a:buChar char="Ø"/>
              <a:defRPr sz="2200"/>
            </a:pPr>
            <a:r>
              <a:rPr lang="en-US" sz="3600" dirty="0">
                <a:solidFill>
                  <a:srgbClr val="7030A0"/>
                </a:solidFill>
              </a:rPr>
              <a:t>Encoding</a:t>
            </a:r>
          </a:p>
          <a:p>
            <a:pPr marL="342900" indent="-342900">
              <a:buFont typeface="Wingdings" panose="05000000000000000000" pitchFamily="2" charset="2"/>
              <a:buChar char="Ø"/>
              <a:defRPr sz="2200"/>
            </a:pPr>
            <a:r>
              <a:rPr lang="en-US" sz="3600" dirty="0">
                <a:solidFill>
                  <a:srgbClr val="7030A0"/>
                </a:solidFill>
              </a:rPr>
              <a:t>Feature Extraction</a:t>
            </a:r>
          </a:p>
          <a:p>
            <a:pPr marL="342900" indent="-342900">
              <a:buFont typeface="Wingdings" panose="05000000000000000000" pitchFamily="2" charset="2"/>
              <a:buChar char="Ø"/>
              <a:defRPr sz="2200"/>
            </a:pPr>
            <a:r>
              <a:rPr lang="en-US" sz="3600" dirty="0">
                <a:solidFill>
                  <a:srgbClr val="7030A0"/>
                </a:solidFill>
              </a:rPr>
              <a:t>Model Training</a:t>
            </a:r>
          </a:p>
          <a:p>
            <a:pPr marL="342900" indent="-342900">
              <a:buFont typeface="Wingdings" panose="05000000000000000000" pitchFamily="2" charset="2"/>
              <a:buChar char="Ø"/>
              <a:defRPr sz="2200"/>
            </a:pPr>
            <a:r>
              <a:rPr lang="en-US" sz="3600" dirty="0">
                <a:solidFill>
                  <a:srgbClr val="7030A0"/>
                </a:solidFill>
              </a:rPr>
              <a:t>Evaluation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u="sng" dirty="0"/>
              <a:t>Preprocessing</a:t>
            </a:r>
            <a:endParaRPr sz="5400" b="1" u="sng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60541D-32D8-CD5D-EA64-51E69198E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92432"/>
            <a:ext cx="6085002" cy="3895626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lang="en-US" sz="2800" dirty="0">
                <a:solidFill>
                  <a:srgbClr val="7030A0"/>
                </a:solidFill>
              </a:rPr>
              <a:t>Missing value handling</a:t>
            </a:r>
          </a:p>
          <a:p>
            <a:pPr>
              <a:defRPr sz="2200"/>
            </a:pPr>
            <a:r>
              <a:rPr lang="en-US" sz="2800" dirty="0">
                <a:solidFill>
                  <a:srgbClr val="7030A0"/>
                </a:solidFill>
              </a:rPr>
              <a:t>Categorical encoding</a:t>
            </a:r>
          </a:p>
          <a:p>
            <a:pPr>
              <a:defRPr sz="2200"/>
            </a:pPr>
            <a:r>
              <a:rPr lang="en-US" sz="2800" dirty="0">
                <a:solidFill>
                  <a:srgbClr val="7030A0"/>
                </a:solidFill>
              </a:rPr>
              <a:t>Outlier treatment</a:t>
            </a:r>
          </a:p>
          <a:p>
            <a:pPr>
              <a:defRPr sz="2200"/>
            </a:pPr>
            <a:r>
              <a:rPr lang="en-US" sz="2800" dirty="0">
                <a:solidFill>
                  <a:srgbClr val="7030A0"/>
                </a:solidFill>
              </a:rPr>
              <a:t>Feature scaling </a:t>
            </a:r>
          </a:p>
          <a:p>
            <a:endParaRPr lang="en-US" sz="54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Feature Extraction</a:t>
            </a:r>
            <a:endParaRPr b="1" u="sn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FCF6B23-B913-0552-D4C7-029E5A31156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25780" y="2008528"/>
            <a:ext cx="4549140" cy="1557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sz="2800" dirty="0">
                <a:solidFill>
                  <a:srgbClr val="7030A0"/>
                </a:solidFill>
              </a:rPr>
              <a:t>Correlation Analysis</a:t>
            </a:r>
          </a:p>
          <a:p>
            <a:pPr>
              <a:defRPr sz="2200"/>
            </a:pPr>
            <a:r>
              <a:rPr sz="2800" dirty="0">
                <a:solidFill>
                  <a:srgbClr val="7030A0"/>
                </a:solidFill>
              </a:rPr>
              <a:t>Feature Importance</a:t>
            </a:r>
          </a:p>
          <a:p>
            <a:pPr>
              <a:defRPr sz="2200"/>
            </a:pPr>
            <a:r>
              <a:rPr sz="2800" dirty="0">
                <a:solidFill>
                  <a:srgbClr val="7030A0"/>
                </a:solidFill>
              </a:rPr>
              <a:t>Feature Selection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u="sng" dirty="0"/>
              <a:t>Models</a:t>
            </a:r>
            <a:endParaRPr sz="4800" b="1" u="sng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1124816-C224-4C44-9B4A-464A581AAD7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57200" y="1950720"/>
            <a:ext cx="5966460" cy="2074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sz="2800" dirty="0">
                <a:solidFill>
                  <a:srgbClr val="7030A0"/>
                </a:solidFill>
              </a:rPr>
              <a:t>Linear Regression</a:t>
            </a:r>
          </a:p>
          <a:p>
            <a:pPr>
              <a:defRPr sz="2200"/>
            </a:pPr>
            <a:r>
              <a:rPr sz="2800" dirty="0">
                <a:solidFill>
                  <a:srgbClr val="7030A0"/>
                </a:solidFill>
              </a:rPr>
              <a:t>Decision Tree</a:t>
            </a:r>
          </a:p>
          <a:p>
            <a:pPr>
              <a:defRPr sz="2200"/>
            </a:pPr>
            <a:r>
              <a:rPr sz="2800" dirty="0">
                <a:solidFill>
                  <a:srgbClr val="7030A0"/>
                </a:solidFill>
              </a:rPr>
              <a:t>Random Forest</a:t>
            </a:r>
          </a:p>
          <a:p>
            <a:pPr>
              <a:defRPr sz="2200"/>
            </a:pPr>
            <a:r>
              <a:rPr sz="2800" dirty="0">
                <a:solidFill>
                  <a:srgbClr val="7030A0"/>
                </a:solidFill>
              </a:rPr>
              <a:t>Gradient Boosting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718"/>
            <a:ext cx="8229600" cy="1143000"/>
          </a:xfrm>
        </p:spPr>
        <p:txBody>
          <a:bodyPr/>
          <a:lstStyle/>
          <a:p>
            <a:r>
              <a:rPr lang="en-US" b="1" u="sng" dirty="0"/>
              <a:t>Evaluation</a:t>
            </a:r>
            <a:endParaRPr b="1" u="sng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5DF2139-9BE4-C5F8-4965-3EDEBC25D28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57200" y="2388715"/>
            <a:ext cx="7041992" cy="10402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sz="2800" dirty="0">
                <a:solidFill>
                  <a:srgbClr val="7030A0"/>
                </a:solidFill>
              </a:rPr>
              <a:t>Metrics: MAE, RMSE, R²</a:t>
            </a:r>
          </a:p>
          <a:p>
            <a:pPr>
              <a:defRPr sz="2200"/>
            </a:pPr>
            <a:r>
              <a:rPr sz="2800" dirty="0">
                <a:solidFill>
                  <a:srgbClr val="7030A0"/>
                </a:solidFill>
              </a:rPr>
              <a:t>Compare models and choose best performer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u="sng" dirty="0"/>
              <a:t>Business Insights</a:t>
            </a:r>
            <a:endParaRPr sz="4800" b="1" u="sng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8726435-5971-26A7-2FA4-21D8986970E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57200" y="2141220"/>
            <a:ext cx="7421880" cy="1471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sz="2800" dirty="0">
                <a:solidFill>
                  <a:srgbClr val="7030A0"/>
                </a:solidFill>
              </a:rPr>
              <a:t>RAM, Storage, Processor and Camera significantly influence price.</a:t>
            </a:r>
          </a:p>
          <a:p>
            <a:pPr>
              <a:defRPr sz="2200"/>
            </a:pPr>
            <a:r>
              <a:rPr sz="2800" dirty="0">
                <a:solidFill>
                  <a:srgbClr val="7030A0"/>
                </a:solidFill>
              </a:rPr>
              <a:t>Use insights for pricing and marketing.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Conclusion</a:t>
            </a:r>
            <a:endParaRPr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0E698E9A-A810-B4D5-41EC-E6340466809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5204" y="2225040"/>
            <a:ext cx="8171596" cy="15573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sz="2800" dirty="0">
                <a:solidFill>
                  <a:srgbClr val="7030A0"/>
                </a:solidFill>
              </a:rPr>
              <a:t>Accurate ML model developed.</a:t>
            </a:r>
          </a:p>
          <a:p>
            <a:pPr>
              <a:defRPr sz="2200"/>
            </a:pPr>
            <a:r>
              <a:rPr sz="2800" dirty="0">
                <a:solidFill>
                  <a:srgbClr val="7030A0"/>
                </a:solidFill>
              </a:rPr>
              <a:t>Important features identified.</a:t>
            </a:r>
          </a:p>
          <a:p>
            <a:pPr>
              <a:defRPr sz="2200"/>
            </a:pPr>
            <a:r>
              <a:rPr sz="2800" dirty="0">
                <a:solidFill>
                  <a:srgbClr val="7030A0"/>
                </a:solidFill>
              </a:rPr>
              <a:t>Future work: Hyperparameter tuning &amp; deployment.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07568-8547-6E72-6723-05E2855F86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12520"/>
            <a:ext cx="7772400" cy="3390899"/>
          </a:xfrm>
        </p:spPr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Presented by: Pooja Kumari🎓 </a:t>
            </a:r>
            <a:br>
              <a:rPr lang="en-US" b="1" dirty="0">
                <a:solidFill>
                  <a:srgbClr val="7030A0"/>
                </a:solidFill>
              </a:rPr>
            </a:br>
            <a:br>
              <a:rPr lang="en-US" b="1" dirty="0">
                <a:solidFill>
                  <a:srgbClr val="7030A0"/>
                </a:solidFill>
              </a:rPr>
            </a:br>
            <a:r>
              <a:rPr lang="en-US" b="1" dirty="0">
                <a:solidFill>
                  <a:srgbClr val="7030A0"/>
                </a:solidFill>
              </a:rPr>
              <a:t>Thank You!</a:t>
            </a:r>
            <a:endParaRPr lang="en-US" b="1" u="sng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3709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199</Words>
  <Application>Microsoft Office PowerPoint</Application>
  <PresentationFormat>On-screen Show (4:3)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Wingdings</vt:lpstr>
      <vt:lpstr>Office Theme</vt:lpstr>
      <vt:lpstr>Project Presentation</vt:lpstr>
      <vt:lpstr># 📱 Feature Extraction and Price Predict</vt:lpstr>
      <vt:lpstr>WORKFLOW </vt:lpstr>
      <vt:lpstr>Preprocessing</vt:lpstr>
      <vt:lpstr>Feature Extraction</vt:lpstr>
      <vt:lpstr>Models</vt:lpstr>
      <vt:lpstr>Evaluation</vt:lpstr>
      <vt:lpstr>Business Insights</vt:lpstr>
      <vt:lpstr>Conclusion</vt:lpstr>
      <vt:lpstr>Presented by: Pooja Kumari🎓   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POOJA</dc:creator>
  <cp:keywords/>
  <dc:description>generated using python-pptx</dc:description>
  <cp:lastModifiedBy>pooja sharma</cp:lastModifiedBy>
  <cp:revision>3</cp:revision>
  <dcterms:created xsi:type="dcterms:W3CDTF">2013-01-27T09:14:16Z</dcterms:created>
  <dcterms:modified xsi:type="dcterms:W3CDTF">2026-07-05T13:22:19Z</dcterms:modified>
  <cp:category/>
</cp:coreProperties>
</file>